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475488"/>
            <a:ext cx="7690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A346D"/>
                </a:solidFill>
                <a:latin typeface="Arial"/>
              </a:rPr>
              <a:t>Avancement du MOOC — indicateurs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69264"/>
            <a:ext cx="7690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/>
              </a:rPr>
              <a:t>SPOC Paris-Saclay. Le dispositif est livré et packagé : l'effort porte sur le remplissage.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1335024"/>
            <a:ext cx="1413662" cy="1188720"/>
          </a:xfrm>
          <a:prstGeom prst="roundRect">
            <a:avLst>
              <a:gd name="adj" fmla="val 16667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453895"/>
            <a:ext cx="1322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35BA84"/>
                </a:solidFill>
                <a:latin typeface="Arial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847088"/>
            <a:ext cx="132222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A346D"/>
                </a:solidFill>
                <a:latin typeface="Arial"/>
              </a:rPr>
              <a:t>Vidéos témoins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3" y="2057400"/>
            <a:ext cx="128564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filmées · montage V1 en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7206" y="1335024"/>
            <a:ext cx="1413662" cy="1188720"/>
          </a:xfrm>
          <a:prstGeom prst="roundRect">
            <a:avLst>
              <a:gd name="adj" fmla="val 16667"/>
            </a:avLst>
          </a:prstGeom>
          <a:solidFill>
            <a:srgbClr val="FFF4EA"/>
          </a:solidFill>
          <a:ln w="15875">
            <a:solidFill>
              <a:srgbClr val="F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2926" y="1453895"/>
            <a:ext cx="1322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6862C"/>
                </a:solidFill>
                <a:latin typeface="Arial"/>
              </a:rPr>
              <a:t>15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2926" y="1847088"/>
            <a:ext cx="132222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A346D"/>
                </a:solidFill>
                <a:latin typeface="Arial"/>
              </a:rPr>
              <a:t>Vidéos 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1214" y="2057400"/>
            <a:ext cx="128564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filmées · V0 à valider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6316" y="1335024"/>
            <a:ext cx="1413662" cy="1188720"/>
          </a:xfrm>
          <a:prstGeom prst="roundRect">
            <a:avLst>
              <a:gd name="adj" fmla="val 16667"/>
            </a:avLst>
          </a:prstGeom>
          <a:solidFill>
            <a:srgbClr val="F9ECF4"/>
          </a:solidFill>
          <a:ln w="15875">
            <a:solidFill>
              <a:srgbClr val="630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2036" y="1453895"/>
            <a:ext cx="1322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63003D"/>
                </a:solidFill>
                <a:latin typeface="Arial"/>
              </a:rPr>
              <a:t>0 /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2036" y="1847088"/>
            <a:ext cx="132222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A346D"/>
                </a:solidFill>
                <a:latin typeface="Arial"/>
              </a:rPr>
              <a:t>Vidéos intégrées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0324" y="2057400"/>
            <a:ext cx="128564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37 emplacements câblés · 1 à créer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5427" y="1335024"/>
            <a:ext cx="1413662" cy="118872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5875">
            <a:solidFill>
              <a:srgbClr val="2A3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1147" y="1453895"/>
            <a:ext cx="1322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2A346D"/>
                </a:solidFill>
                <a:latin typeface="Arial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1147" y="1847088"/>
            <a:ext cx="132222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A346D"/>
                </a:solidFill>
                <a:latin typeface="Arial"/>
              </a:rPr>
              <a:t>Intro / outro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9435" y="2057400"/>
            <a:ext cx="128564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segments · 40 à 57 min à produire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4537" y="1335024"/>
            <a:ext cx="1413662" cy="1188720"/>
          </a:xfrm>
          <a:prstGeom prst="roundRect">
            <a:avLst>
              <a:gd name="adj" fmla="val 16667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0257" y="1453895"/>
            <a:ext cx="1322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35BA84"/>
                </a:solidFill>
                <a:latin typeface="Arial"/>
              </a:rPr>
              <a:t>176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0257" y="1847088"/>
            <a:ext cx="132222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A346D"/>
                </a:solidFill>
                <a:latin typeface="Arial"/>
              </a:rPr>
              <a:t>Incrustations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8545" y="2057400"/>
            <a:ext cx="128564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propositions à arbitrer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743200"/>
            <a:ext cx="7690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A346D"/>
                </a:solidFill>
                <a:latin typeface="Arial"/>
              </a:rPr>
              <a:t>État des rushes expert par 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5BA84"/>
                </a:solidFill>
                <a:latin typeface="Arial"/>
              </a:rPr>
              <a:t>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complet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83664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 w="15875">
            <a:solidFill>
              <a:srgbClr val="F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83664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6862C"/>
                </a:solidFill>
                <a:latin typeface="Arial"/>
              </a:rPr>
              <a:t>M1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664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partiel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99232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5BA84"/>
                </a:solidFill>
                <a:latin typeface="Arial"/>
              </a:rPr>
              <a:t>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complet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F9ECF4"/>
          </a:solidFill>
          <a:ln w="15875">
            <a:solidFill>
              <a:srgbClr val="630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63003D"/>
                </a:solidFill>
                <a:latin typeface="Arial"/>
              </a:rPr>
              <a:t>M3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bloqué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30368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 w="15875">
            <a:solidFill>
              <a:srgbClr val="F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6862C"/>
                </a:solidFill>
                <a:latin typeface="Arial"/>
              </a:rPr>
              <a:t>M4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partiel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45936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5BA84"/>
                </a:solidFill>
                <a:latin typeface="Arial"/>
              </a:rPr>
              <a:t>M5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complet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61504" y="3035808"/>
            <a:ext cx="996696" cy="566928"/>
          </a:xfrm>
          <a:prstGeom prst="roundRect">
            <a:avLst>
              <a:gd name="adj" fmla="val 12000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1504" y="3118103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5BA84"/>
                </a:solidFill>
                <a:latin typeface="Arial"/>
              </a:rPr>
              <a:t>M6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1504" y="3346703"/>
            <a:ext cx="996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complet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" y="3749039"/>
            <a:ext cx="7690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35BA84"/>
                </a:solidFill>
                <a:latin typeface="Arial"/>
              </a:rPr>
              <a:t>Les 4 modules verts sont intégrables dès validation des V1/V0 — mais M2 ou M5 accueillera la capsule PACTE.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" y="4041648"/>
            <a:ext cx="7690104" cy="530352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 w="15875">
            <a:solidFill>
              <a:srgbClr val="2A3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4133087"/>
            <a:ext cx="7360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A346D"/>
                </a:solidFill>
                <a:latin typeface="Arial"/>
              </a:rPr>
              <a:t>Plateforme : 7 paquets SCORM 1.2 opérationnels · module Ressources finalisé (21 capsules, 3 séquences) · reprise de parcours, suivi de complétion et remontée de score.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468172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L'intégration vidéo est une opération de renseignement des lecteurs : aucun développement restant.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4681728"/>
            <a:ext cx="1655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Instantané au 22/09/2026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475488"/>
            <a:ext cx="7690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A346D"/>
                </a:solidFill>
                <a:latin typeface="Arial"/>
              </a:rPr>
              <a:t>Quatre points à trancher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69264"/>
            <a:ext cx="7690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/>
              </a:rPr>
              <a:t>Le calendrier ne tient que si ces quatre points sont arbitrés dans les prochains jours.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1335024"/>
            <a:ext cx="1751076" cy="2487168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630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24178" y="1517904"/>
            <a:ext cx="438912" cy="438912"/>
          </a:xfrm>
          <a:prstGeom prst="ellipse">
            <a:avLst/>
          </a:prstGeom>
          <a:solidFill>
            <a:srgbClr val="630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084831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63003D"/>
                </a:solidFill>
                <a:latin typeface="Arial"/>
              </a:rPr>
              <a:t>E15 / E16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77439"/>
            <a:ext cx="149504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E12 est Stéphanie Augéroussel (SATT), pas Fatoumata. Restent E15 Fatoumata et E16.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72384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A346D"/>
                </a:solidFill>
                <a:latin typeface="Arial"/>
              </a:rPr>
              <a:t>Bloque le 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64992"/>
            <a:ext cx="14950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Arial"/>
              </a:rPr>
              <a:t>E12 à brancher (lecteur)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7772" y="1335024"/>
            <a:ext cx="1751076" cy="2487168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F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03854" y="1517904"/>
            <a:ext cx="438912" cy="438912"/>
          </a:xfrm>
          <a:prstGeom prst="ellipse">
            <a:avLst/>
          </a:prstGeom>
          <a:solidFill>
            <a:srgbClr val="F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2084831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6862C"/>
                </a:solidFill>
                <a:latin typeface="Arial"/>
              </a:rPr>
              <a:t>Capsule loi PACTE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5788" y="2377439"/>
            <a:ext cx="149504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Sujet apparu en captation, sans emplacement prévu.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500" y="3072384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A346D"/>
                </a:solidFill>
                <a:latin typeface="Arial"/>
              </a:rPr>
              <a:t>M2 ou M5 à arbitrer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5788" y="3364992"/>
            <a:ext cx="14950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Arial"/>
              </a:rPr>
              <a:t>25e capsule · lecteur à créer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7448" y="1335024"/>
            <a:ext cx="1751076" cy="2487168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83529" y="1517904"/>
            <a:ext cx="438912" cy="438912"/>
          </a:xfrm>
          <a:prstGeom prst="ellipse">
            <a:avLst/>
          </a:prstGeom>
          <a:solidFill>
            <a:srgbClr val="35B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084831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5BA84"/>
                </a:solidFill>
                <a:latin typeface="Arial"/>
              </a:rPr>
              <a:t>Scripts intro / outro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377439"/>
            <a:ext cx="149504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À valider avant mi-octobre, tournage derrière.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3072384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A346D"/>
                </a:solidFill>
                <a:latin typeface="Arial"/>
              </a:rPr>
              <a:t>76 segments à produire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364992"/>
            <a:ext cx="14950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Arial"/>
              </a:rPr>
              <a:t>38 vidéos × intro + outro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7124" y="1335024"/>
            <a:ext cx="1751076" cy="2487168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2A3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63206" y="1517904"/>
            <a:ext cx="438912" cy="438912"/>
          </a:xfrm>
          <a:prstGeom prst="ellipse">
            <a:avLst/>
          </a:prstGeom>
          <a:solidFill>
            <a:srgbClr val="2A3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6852" y="2084831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A346D"/>
                </a:solidFill>
                <a:latin typeface="Arial"/>
              </a:rPr>
              <a:t>Charge des quiz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5140" y="2377439"/>
            <a:ext cx="149504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Aucune estimation de charge à ce jour.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6852" y="3072384"/>
            <a:ext cx="1531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2A346D"/>
                </a:solidFill>
                <a:latin typeface="Arial"/>
              </a:rPr>
              <a:t>13 formatifs + 1 finale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5140" y="3364992"/>
            <a:ext cx="14950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Arial"/>
              </a:rPr>
              <a:t>évaluation sommative · 0 implémenté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041648"/>
            <a:ext cx="7690104" cy="530352"/>
          </a:xfrm>
          <a:prstGeom prst="roundRect">
            <a:avLst>
              <a:gd name="adj" fmla="val 14000"/>
            </a:avLst>
          </a:prstGeom>
          <a:solidFill>
            <a:srgbClr val="FFF4EA"/>
          </a:solidFill>
          <a:ln w="15875">
            <a:solidFill>
              <a:srgbClr val="F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133087"/>
            <a:ext cx="7360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A346D"/>
                </a:solidFill>
                <a:latin typeface="Arial"/>
              </a:rPr>
              <a:t>À confirmer : E3 (Burgé) est annoncé « courant octobre » tout en figurant au plateau du 24/09. Plateau du 24/09 à IncubAlliance : 7 capsules (E2, E3, E4, E13, E16, E18, E19).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68172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E14 = Yoann (V14). Il reste E15 Fatoumata et E16 à planifier.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4681728"/>
            <a:ext cx="1655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Instantané au 22/09/2026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475488"/>
            <a:ext cx="7690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A346D"/>
                </a:solidFill>
                <a:latin typeface="Arial"/>
              </a:rPr>
              <a:t>Trajectoire et mise en ligne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69264"/>
            <a:ext cx="7690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/>
              </a:rPr>
              <a:t>Livraison en trois lots pour ne pas faire dépendre l'ensemble du module 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1316736"/>
            <a:ext cx="7690104" cy="603504"/>
          </a:xfrm>
          <a:prstGeom prst="roundRect">
            <a:avLst>
              <a:gd name="adj" fmla="val 20000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53895"/>
            <a:ext cx="329184" cy="329184"/>
          </a:xfrm>
          <a:prstGeom prst="ellipse">
            <a:avLst/>
          </a:prstGeom>
          <a:solidFill>
            <a:srgbClr val="35B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26464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5BA84"/>
                </a:solidFill>
                <a:latin typeface="Arial"/>
              </a:rPr>
              <a:t>Lot 1 — MR, M2, M5, 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19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rial"/>
              </a:rPr>
              <a:t>Rushes complets · sous réserve du rattachement de la capsule PACTE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9961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35BA84"/>
                </a:solidFill>
                <a:latin typeface="Arial"/>
              </a:rPr>
              <a:t>Prêt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93391"/>
            <a:ext cx="7690104" cy="603504"/>
          </a:xfrm>
          <a:prstGeom prst="roundRect">
            <a:avLst>
              <a:gd name="adj" fmla="val 20000"/>
            </a:avLst>
          </a:prstGeom>
          <a:solidFill>
            <a:srgbClr val="FFF4EA"/>
          </a:solidFill>
          <a:ln w="15875">
            <a:solidFill>
              <a:srgbClr val="F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30551"/>
            <a:ext cx="329184" cy="329184"/>
          </a:xfrm>
          <a:prstGeom prst="ellipse">
            <a:avLst/>
          </a:prstGeom>
          <a:solidFill>
            <a:srgbClr val="F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862C"/>
                </a:solidFill>
                <a:latin typeface="Arial"/>
              </a:rPr>
              <a:t>Lot 2 — M1, M4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22575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rial"/>
              </a:rPr>
              <a:t>Débloqué par le plateau du 24/09 : E2, E3, E4, E18, E19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7627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6862C"/>
                </a:solidFill>
                <a:latin typeface="Arial"/>
              </a:rPr>
              <a:t>Octobre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670048"/>
            <a:ext cx="7690104" cy="603504"/>
          </a:xfrm>
          <a:prstGeom prst="roundRect">
            <a:avLst>
              <a:gd name="adj" fmla="val 20000"/>
            </a:avLst>
          </a:prstGeom>
          <a:solidFill>
            <a:srgbClr val="F9ECF4"/>
          </a:solidFill>
          <a:ln w="15875">
            <a:solidFill>
              <a:srgbClr val="630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807208"/>
            <a:ext cx="329184" cy="329184"/>
          </a:xfrm>
          <a:prstGeom prst="ellipse">
            <a:avLst/>
          </a:prstGeom>
          <a:solidFill>
            <a:srgbClr val="630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79776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003D"/>
                </a:solidFill>
                <a:latin typeface="Arial"/>
              </a:rPr>
              <a:t>Lot 3 — 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99232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rial"/>
              </a:rPr>
              <a:t>E14 = Yoann (cadre V14). Restent E15 Fatoumata et E16.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529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63003D"/>
                </a:solidFill>
                <a:latin typeface="Arial"/>
              </a:rPr>
              <a:t>Sans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3401568"/>
            <a:ext cx="3730752" cy="822960"/>
          </a:xfrm>
          <a:prstGeom prst="roundRect">
            <a:avLst>
              <a:gd name="adj" fmla="val 16000"/>
            </a:avLst>
          </a:prstGeom>
          <a:solidFill>
            <a:srgbClr val="ECFAF4"/>
          </a:solidFill>
          <a:ln w="15875">
            <a:solidFill>
              <a:srgbClr val="35B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02152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5BA84"/>
                </a:solidFill>
                <a:latin typeface="Arial"/>
              </a:rPr>
              <a:t>Décembre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712464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346D"/>
                </a:solidFill>
                <a:latin typeface="Arial"/>
              </a:rPr>
              <a:t>Ouverture partielle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31920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MR, M2, M5, M6 — suppose d'accepter une ouverture module par module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7448" y="3401568"/>
            <a:ext cx="3730752" cy="82296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5875">
            <a:solidFill>
              <a:srgbClr val="2A3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502152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A346D"/>
                </a:solidFill>
                <a:latin typeface="Arial"/>
              </a:rPr>
              <a:t>Fin janvier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712464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A346D"/>
                </a:solidFill>
                <a:latin typeface="Arial"/>
              </a:rPr>
              <a:t>Parcours complet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931920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Sous réserve de E15 Fatoumata, E16, et du volume intro / outro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4297680"/>
            <a:ext cx="7690104" cy="475488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 w="15875">
            <a:solidFill>
              <a:srgbClr val="2A3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389120"/>
            <a:ext cx="7360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A346D"/>
                </a:solidFill>
                <a:latin typeface="Arial"/>
              </a:rPr>
              <a:t>Périmètre : SPOC Paris-Saclay — le terme « MOOC » est conservé en communication. Une éventuelle déclinaison à périmètre élargi est un sujet ultérieur du projet.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86460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Hypothèses : montage V0 ≈ 3 sem. · validation 2 + 2 sem. · recette LMS 2 sem. · 76 intro / outro non chiffrés.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4864608"/>
            <a:ext cx="1197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"/>
              </a:rPr>
              <a:t>Instantané au 22/09/2026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sez Innov">
  <a:themeElements>
    <a:clrScheme name="Personnalisé 3">
      <a:dk1>
        <a:srgbClr val="2A346D"/>
      </a:dk1>
      <a:lt1>
        <a:sysClr val="window" lastClr="FFFFFF"/>
      </a:lt1>
      <a:dk2>
        <a:srgbClr val="2A346D"/>
      </a:dk2>
      <a:lt2>
        <a:srgbClr val="FFFFFF"/>
      </a:lt2>
      <a:accent1>
        <a:srgbClr val="F6862C"/>
      </a:accent1>
      <a:accent2>
        <a:srgbClr val="35BA84"/>
      </a:accent2>
      <a:accent3>
        <a:srgbClr val="63003D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sez Innov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Osez Innov" id="{3E869BB7-3321-4C9D-ACAB-BA607A6C6608}" vid="{61B55205-4435-4702-8B70-B3F2B278ED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