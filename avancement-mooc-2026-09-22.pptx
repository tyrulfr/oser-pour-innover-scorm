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75488"/>
            <a:ext cx="7690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A346D"/>
                </a:solidFill>
                <a:latin typeface="Arial"/>
              </a:rPr>
              <a:t>Avancement du MOOC — indicateurs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969264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Arial"/>
              </a:rPr>
              <a:t>Le dispositif est livré et packagé. L'effort se concentre désormais sur le remplissage.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" y="1335024"/>
            <a:ext cx="1792224" cy="1188720"/>
          </a:xfrm>
          <a:prstGeom prst="roundRect">
            <a:avLst>
              <a:gd name="adj" fmla="val 16667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463040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35BA84"/>
                </a:solidFill>
                <a:latin typeface="Arial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1883664"/>
            <a:ext cx="16824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A346D"/>
                </a:solidFill>
                <a:latin typeface="Arial"/>
              </a:rPr>
              <a:t>Vidéos témoins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112264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filmées · montage V1 en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4056" y="1335024"/>
            <a:ext cx="1792224" cy="1188720"/>
          </a:xfrm>
          <a:prstGeom prst="roundRect">
            <a:avLst>
              <a:gd name="adj" fmla="val 16667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463040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6862C"/>
                </a:solidFill>
                <a:latin typeface="Arial"/>
              </a:rPr>
              <a:t>14 /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83664"/>
            <a:ext cx="16824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A346D"/>
                </a:solidFill>
                <a:latin typeface="Arial"/>
              </a:rPr>
              <a:t>Vidéos expert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2112264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filmées · V0 à valider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0016" y="1335024"/>
            <a:ext cx="1792224" cy="1188720"/>
          </a:xfrm>
          <a:prstGeom prst="roundRect">
            <a:avLst>
              <a:gd name="adj" fmla="val 16667"/>
            </a:avLst>
          </a:prstGeom>
          <a:solidFill>
            <a:srgbClr val="F9ECF4"/>
          </a:solidFill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1463040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63003D"/>
                </a:solidFill>
                <a:latin typeface="Arial"/>
              </a:rPr>
              <a:t>0 /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1883664"/>
            <a:ext cx="16824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A346D"/>
                </a:solidFill>
                <a:latin typeface="Arial"/>
              </a:rPr>
              <a:t>Vidéos intégrées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112264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36 emplacements câblés, 0 rempli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5975" y="1335024"/>
            <a:ext cx="1792224" cy="1188720"/>
          </a:xfrm>
          <a:prstGeom prst="roundRect">
            <a:avLst>
              <a:gd name="adj" fmla="val 16667"/>
            </a:avLst>
          </a:prstGeom>
          <a:solidFill>
            <a:srgbClr val="EEF1F8"/>
          </a:solidFill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39" y="1463040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2A346D"/>
                </a:solidFill>
                <a:latin typeface="Arial"/>
              </a:rPr>
              <a:t>176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39" y="1883664"/>
            <a:ext cx="16824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A346D"/>
                </a:solidFill>
                <a:latin typeface="Arial"/>
              </a:rPr>
              <a:t>Incrustations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7" y="2112264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propositions à arbitrer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2743200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2A346D"/>
                </a:solidFill>
                <a:latin typeface="Arial"/>
              </a:rPr>
              <a:t>État des rushes expert par module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83664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6862C"/>
                </a:solidFill>
                <a:latin typeface="Arial"/>
              </a:rPr>
              <a:t>M1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partiel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99232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99232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99232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0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F9ECF4"/>
          </a:solidFill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0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63003D"/>
                </a:solidFill>
                <a:latin typeface="Arial"/>
              </a:rPr>
              <a:t>M3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bloqué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30368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0368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6862C"/>
                </a:solidFill>
                <a:latin typeface="Arial"/>
              </a:rPr>
              <a:t>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0368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partiel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45936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61504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61504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3749039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35BA84"/>
                </a:solidFill>
                <a:latin typeface="Arial"/>
              </a:rPr>
              <a:t>Les 3 modules verts sont intégrables dès validation des V1 témoin et V0 expert.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8096" y="4041648"/>
            <a:ext cx="7690104" cy="530352"/>
          </a:xfrm>
          <a:prstGeom prst="roundRect">
            <a:avLst>
              <a:gd name="adj" fmla="val 14000"/>
            </a:avLst>
          </a:prstGeom>
          <a:solidFill>
            <a:srgbClr val="EEF1F8"/>
          </a:solidFill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4133087"/>
            <a:ext cx="7360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A346D"/>
                </a:solidFill>
                <a:latin typeface="Arial"/>
              </a:rPr>
              <a:t>Plateforme : 7 paquets SCORM 1.2 opérationnels · module Ressources finalisé (21 capsules, 3 séquences) · reprise de parcours, suivi de complétion et remontée de score.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468172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rial"/>
              </a:rPr>
              <a:t>L'intégration vidéo est une opération de renseignement des lecteurs : aucun développement restant.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03136" y="4681728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rial"/>
              </a:rPr>
              <a:t>Instantané au 22/09/2026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75488"/>
            <a:ext cx="7690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A346D"/>
                </a:solidFill>
                <a:latin typeface="Arial"/>
              </a:rPr>
              <a:t>Trois décisions attendues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969264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Arial"/>
              </a:rPr>
              <a:t>Le calendrier ne tient que si ces trois points sont tranchés cette semaine.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" y="1335024"/>
            <a:ext cx="2411272" cy="2487168"/>
          </a:xfrm>
          <a:prstGeom prst="roundRect">
            <a:avLst>
              <a:gd name="adj" fmla="val 16667"/>
            </a:avLst>
          </a:prstGeom>
          <a:noFill/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35988" y="1517904"/>
            <a:ext cx="475488" cy="475488"/>
          </a:xfrm>
          <a:prstGeom prst="ellipse">
            <a:avLst/>
          </a:prstGeom>
          <a:solidFill>
            <a:srgbClr val="630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2118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63003D"/>
                </a:solidFill>
                <a:latin typeface="Arial"/>
              </a:rPr>
              <a:t>E12 / E14 — Fatoumata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395728"/>
            <a:ext cx="2082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475569"/>
                </a:solidFill>
                <a:latin typeface="Arial"/>
              </a:rPr>
              <a:t>Au planning du 11/09, non importées en V0. Absentes du plateau du 24/09.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2118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A346D"/>
                </a:solidFill>
                <a:latin typeface="Arial"/>
              </a:rPr>
              <a:t>Bloque 100 % du module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28416"/>
            <a:ext cx="2082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Arial"/>
              </a:rPr>
              <a:t>T7 = E12 + E13 · T8 = E14 + E15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7968" y="1335024"/>
            <a:ext cx="2411272" cy="2487168"/>
          </a:xfrm>
          <a:prstGeom prst="roundRect">
            <a:avLst>
              <a:gd name="adj" fmla="val 16667"/>
            </a:avLst>
          </a:prstGeom>
          <a:noFill/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75861" y="1517904"/>
            <a:ext cx="475488" cy="475488"/>
          </a:xfrm>
          <a:prstGeom prst="ellipse">
            <a:avLst/>
          </a:prstGeom>
          <a:solidFill>
            <a:srgbClr val="F6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272" y="2121408"/>
            <a:ext cx="2118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F6862C"/>
                </a:solidFill>
                <a:latin typeface="Arial"/>
              </a:rPr>
              <a:t>Décompte des experts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2560" y="2395728"/>
            <a:ext cx="2082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475569"/>
                </a:solidFill>
                <a:latin typeface="Arial"/>
              </a:rPr>
              <a:t>L'architecture donne 14 capsules filmées, 15 sont annoncées.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4272" y="3054096"/>
            <a:ext cx="2118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A346D"/>
                </a:solidFill>
                <a:latin typeface="Arial"/>
              </a:rPr>
              <a:t>23 ou 24 emplacements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560" y="3328416"/>
            <a:ext cx="2082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Arial"/>
              </a:rPr>
              <a:t>Un slot à ouvrir si 24e expert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7841" y="1335024"/>
            <a:ext cx="2411272" cy="2487168"/>
          </a:xfrm>
          <a:prstGeom prst="roundRect">
            <a:avLst>
              <a:gd name="adj" fmla="val 16667"/>
            </a:avLst>
          </a:prstGeom>
          <a:noFill/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15734" y="1517904"/>
            <a:ext cx="475488" cy="475488"/>
          </a:xfrm>
          <a:prstGeom prst="ellipse">
            <a:avLst/>
          </a:prstGeom>
          <a:solidFill>
            <a:srgbClr val="35B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4145" y="2121408"/>
            <a:ext cx="2118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35BA84"/>
                </a:solidFill>
                <a:latin typeface="Arial"/>
              </a:rPr>
              <a:t>Périmètre SPOC / MOOC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2433" y="2395728"/>
            <a:ext cx="2082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475569"/>
                </a:solidFill>
                <a:latin typeface="Arial"/>
              </a:rPr>
              <a:t>Aucune différenciation à ce jour : les paquets sont en variante unique.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4145" y="3054096"/>
            <a:ext cx="2118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A346D"/>
                </a:solidFill>
                <a:latin typeface="Arial"/>
              </a:rPr>
              <a:t>Fixe les seuils de réussite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2433" y="3328416"/>
            <a:ext cx="2082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Arial"/>
              </a:rPr>
              <a:t>À trancher avant production des quiz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4041648"/>
            <a:ext cx="7690104" cy="530352"/>
          </a:xfrm>
          <a:prstGeom prst="roundRect">
            <a:avLst>
              <a:gd name="adj" fmla="val 14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33087"/>
            <a:ext cx="7360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A346D"/>
                </a:solidFill>
                <a:latin typeface="Arial"/>
              </a:rPr>
              <a:t>À confirmer : E3 (Burgé) est annoncé « courant octobre » tout en figurant au plateau du 24/09. Plateau du 24/09 à IncubAlliance : 7 capsules (E2, E3, E4, E13, E15, E17, E18).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68172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rial"/>
              </a:rPr>
              <a:t>Si le plateau du 24/09 se déroule complet, il ne restera que E12 et E14 à planifier.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3136" y="4681728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rial"/>
              </a:rPr>
              <a:t>Instantané au 22/09/2026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75488"/>
            <a:ext cx="7690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A346D"/>
                </a:solidFill>
                <a:latin typeface="Arial"/>
              </a:rPr>
              <a:t>Trajectoire et mise en ligne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969264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Arial"/>
              </a:rPr>
              <a:t>Livraison en trois lots pour ne pas faire dépendre l'ensemble du module 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" y="1316736"/>
            <a:ext cx="7690104" cy="603504"/>
          </a:xfrm>
          <a:prstGeom prst="roundRect">
            <a:avLst>
              <a:gd name="adj" fmla="val 20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453895"/>
            <a:ext cx="329184" cy="329184"/>
          </a:xfrm>
          <a:prstGeom prst="ellipse">
            <a:avLst/>
          </a:prstGeom>
          <a:solidFill>
            <a:srgbClr val="35B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26464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5BA84"/>
                </a:solidFill>
                <a:latin typeface="Arial"/>
              </a:rPr>
              <a:t>Lot 1 — MR, M2, M5, M6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19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rial"/>
              </a:rPr>
              <a:t>Rushes experts complets · intégrable dès validation des V1/V0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499616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35BA84"/>
                </a:solidFill>
                <a:latin typeface="Arial"/>
              </a:rPr>
              <a:t>Prêt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93391"/>
            <a:ext cx="7690104" cy="603504"/>
          </a:xfrm>
          <a:prstGeom prst="roundRect">
            <a:avLst>
              <a:gd name="adj" fmla="val 20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130551"/>
            <a:ext cx="329184" cy="329184"/>
          </a:xfrm>
          <a:prstGeom prst="ellipse">
            <a:avLst/>
          </a:prstGeom>
          <a:solidFill>
            <a:srgbClr val="F6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0312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862C"/>
                </a:solidFill>
                <a:latin typeface="Arial"/>
              </a:rPr>
              <a:t>Lot 2 — M1, M4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22575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rial"/>
              </a:rPr>
              <a:t>Débloqué par le plateau du 24/09 : E2, E3, E4, E17, E18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17627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F6862C"/>
                </a:solidFill>
                <a:latin typeface="Arial"/>
              </a:rPr>
              <a:t>Octobre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2670048"/>
            <a:ext cx="7690104" cy="603504"/>
          </a:xfrm>
          <a:prstGeom prst="roundRect">
            <a:avLst>
              <a:gd name="adj" fmla="val 20000"/>
            </a:avLst>
          </a:prstGeom>
          <a:solidFill>
            <a:srgbClr val="F9ECF4"/>
          </a:solidFill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2807208"/>
            <a:ext cx="329184" cy="329184"/>
          </a:xfrm>
          <a:prstGeom prst="ellipse">
            <a:avLst/>
          </a:prstGeom>
          <a:solidFill>
            <a:srgbClr val="630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779776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3003D"/>
                </a:solidFill>
                <a:latin typeface="Arial"/>
              </a:rPr>
              <a:t>Lot 3 — M3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99232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rial"/>
              </a:rPr>
              <a:t>Suspendu à la décision sur E12 / E14 — aucun rush disponible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5292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63003D"/>
                </a:solidFill>
                <a:latin typeface="Arial"/>
              </a:rPr>
              <a:t>Sans date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3401568"/>
            <a:ext cx="3730752" cy="822960"/>
          </a:xfrm>
          <a:prstGeom prst="roundRect">
            <a:avLst>
              <a:gd name="adj" fmla="val 16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02152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5BA84"/>
                </a:solidFill>
                <a:latin typeface="Arial"/>
              </a:rPr>
              <a:t>Décembre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712464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A346D"/>
                </a:solidFill>
                <a:latin typeface="Arial"/>
              </a:rPr>
              <a:t>Ouverture partielle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931920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MR, M2, M5, M6 — suppose d'accepter une ouverture module par module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27448" y="3401568"/>
            <a:ext cx="3730752" cy="822960"/>
          </a:xfrm>
          <a:prstGeom prst="roundRect">
            <a:avLst>
              <a:gd name="adj" fmla="val 16000"/>
            </a:avLst>
          </a:prstGeom>
          <a:solidFill>
            <a:srgbClr val="EEF1F8"/>
          </a:solidFill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3502152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A346D"/>
                </a:solidFill>
                <a:latin typeface="Arial"/>
              </a:rPr>
              <a:t>Fin janvier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712464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A346D"/>
                </a:solidFill>
                <a:latin typeface="Arial"/>
              </a:rPr>
              <a:t>Parcours complet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931920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Sous réserve que E12 / E14 soient tournées en octobre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297680"/>
            <a:ext cx="7690104" cy="475488"/>
          </a:xfrm>
          <a:prstGeom prst="roundRect">
            <a:avLst>
              <a:gd name="adj" fmla="val 14000"/>
            </a:avLst>
          </a:prstGeom>
          <a:solidFill>
            <a:srgbClr val="F9ECF4"/>
          </a:solidFill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389120"/>
            <a:ext cx="7360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3003D"/>
                </a:solidFill>
                <a:latin typeface="Arial"/>
              </a:rPr>
              <a:t>Angle mort : 13 quiz d'évaluation formative et 1 évaluation sommative à produire — 0 implémenté dans M1 à M6, charge non estimée à ce jour.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864608"/>
            <a:ext cx="6492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Hypothèses : montage V0 ≈ 3 sem. après tournage · 1 cycle de validation (2 + 2 sem.) · aucun re-tournage · 2 sem. de recette LMS.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0336" y="48646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rial"/>
              </a:rPr>
              <a:t>Instantané au 22/09/2026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sez Innov">
  <a:themeElements>
    <a:clrScheme name="Personnalisé 3">
      <a:dk1>
        <a:srgbClr val="2A346D"/>
      </a:dk1>
      <a:lt1>
        <a:sysClr val="window" lastClr="FFFFFF"/>
      </a:lt1>
      <a:dk2>
        <a:srgbClr val="2A346D"/>
      </a:dk2>
      <a:lt2>
        <a:srgbClr val="FFFFFF"/>
      </a:lt2>
      <a:accent1>
        <a:srgbClr val="F6862C"/>
      </a:accent1>
      <a:accent2>
        <a:srgbClr val="35BA84"/>
      </a:accent2>
      <a:accent3>
        <a:srgbClr val="63003D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sez Innov">
      <a:majorFont>
        <a:latin typeface="Segoe U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 Osez Innov" id="{3E869BB7-3321-4C9D-ACAB-BA607A6C6608}" vid="{61B55205-4435-4702-8B70-B3F2B278ED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